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A90D9"/>
          </a:solidFill>
          <a:ln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5200" b="1">
                <a:solidFill>
                  <a:srgbClr val="E6EDF3"/>
                </a:solidFill>
              </a:rPr>
              <a:t>Agentic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>
                <a:solidFill>
                  <a:srgbClr val="8B949E"/>
                </a:solidFill>
              </a:rPr>
              <a:t>Orchestrated gate-based AI development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6EDF3"/>
                </a:solidFill>
              </a:rPr>
              <a:t>Agentic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256032" y="960120"/>
            <a:ext cx="1417320" cy="822960"/>
          </a:xfrm>
          <a:prstGeom prst="rect">
            <a:avLst/>
          </a:prstGeom>
          <a:solidFill>
            <a:srgbClr val="3D1A3D"/>
          </a:solidFill>
          <a:ln w="25400">
            <a:solidFill>
              <a:srgbClr val="C9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200" b="1">
                <a:solidFill>
                  <a:srgbClr val="FAE8FD"/>
                </a:solidFill>
              </a:rPr>
              <a:t>👤 Product</a:t>
            </a:r>
          </a:p>
          <a:p>
            <a:pPr algn="ctr"/>
            <a:r>
              <a:rPr sz="1000" b="0">
                <a:solidFill>
                  <a:srgbClr val="E0A8E8"/>
                </a:solidFill>
              </a:rPr>
              <a:t>Owner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965960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Requirement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Challenger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675887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PRD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PRD Agent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5385816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UX+Design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Orchestrator</a:t>
            </a:r>
          </a:p>
        </p:txBody>
      </p:sp>
      <p:sp>
        <p:nvSpPr>
          <p:cNvPr id="8" name="Rectangle 7"/>
          <p:cNvSpPr/>
          <p:nvPr/>
        </p:nvSpPr>
        <p:spPr>
          <a:xfrm>
            <a:off x="7095744" y="96012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Architecture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Arch Agent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805672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Build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Dev Agent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95744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Code Review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Code Reviewer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85816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Runtime QA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Runtime QA Agent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75887" y="4754880"/>
            <a:ext cx="1417320" cy="822960"/>
          </a:xfrm>
          <a:prstGeom prst="rect">
            <a:avLst/>
          </a:prstGeom>
          <a:solidFill>
            <a:srgbClr val="161B22"/>
          </a:solidFill>
          <a:ln w="2540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100" b="0">
                <a:solidFill>
                  <a:srgbClr val="93C5FD"/>
                </a:solidFill>
              </a:rPr>
              <a:t>Merge Ready</a:t>
            </a:r>
          </a:p>
          <a:p>
            <a:pPr algn="ctr"/>
            <a:r>
              <a:rPr sz="900" b="0">
                <a:solidFill>
                  <a:srgbClr val="5A8ABD"/>
                </a:solidFill>
              </a:rPr>
              <a:t>Gate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65960" y="4754880"/>
            <a:ext cx="1417320" cy="822960"/>
          </a:xfrm>
          <a:prstGeom prst="rect">
            <a:avLst/>
          </a:prstGeom>
          <a:solidFill>
            <a:srgbClr val="3D1A3D"/>
          </a:solidFill>
          <a:ln w="25400">
            <a:solidFill>
              <a:srgbClr val="C97D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200" b="1">
                <a:solidFill>
                  <a:srgbClr val="FAE8FD"/>
                </a:solidFill>
              </a:rPr>
              <a:t>👤 PO</a:t>
            </a:r>
          </a:p>
          <a:p>
            <a:pPr algn="ctr"/>
            <a:r>
              <a:rPr sz="1000" b="0">
                <a:solidFill>
                  <a:srgbClr val="E0A8E8"/>
                </a:solidFill>
              </a:rPr>
              <a:t>Merges PR</a:t>
            </a:r>
          </a:p>
          <a:p>
            <a:pPr algn="ctr"/>
            <a:r>
              <a:rPr sz="900" b="0">
                <a:solidFill>
                  <a:srgbClr val="B07CC0"/>
                </a:solidFill>
              </a:rPr>
              <a:t>PO-only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6032" y="4754880"/>
            <a:ext cx="1417320" cy="822960"/>
          </a:xfrm>
          <a:prstGeom prst="rect">
            <a:avLst/>
          </a:prstGeom>
          <a:solidFill>
            <a:srgbClr val="122B1E"/>
          </a:solidFill>
          <a:ln w="25400">
            <a:solidFill>
              <a:srgbClr val="4CAF7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300" b="1">
                <a:solidFill>
                  <a:srgbClr val="D1FAE5"/>
                </a:solidFill>
              </a:rPr>
              <a:t>✅ Done</a:t>
            </a:r>
          </a:p>
          <a:p>
            <a:pPr algn="ctr"/>
            <a:r>
              <a:rPr sz="1000" b="0">
                <a:solidFill>
                  <a:srgbClr val="86EFAC"/>
                </a:solidFill>
              </a:rPr>
              <a:t>Shipped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46504" y="135890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56432" y="1358900"/>
            <a:ext cx="146303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66359" y="1358900"/>
            <a:ext cx="146305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876288" y="135890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58784" y="1358900"/>
            <a:ext cx="2048256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94340" y="1371600"/>
            <a:ext cx="25400" cy="379476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268712" y="5153660"/>
            <a:ext cx="338328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586216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76288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166359" y="5153660"/>
            <a:ext cx="146305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56432" y="5153660"/>
            <a:ext cx="146303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746504" y="5153660"/>
            <a:ext cx="146304" cy="254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965960" y="3017520"/>
            <a:ext cx="8257032" cy="347472"/>
          </a:xfrm>
          <a:prstGeom prst="rect">
            <a:avLst/>
          </a:prstGeom>
          <a:solidFill>
            <a:srgbClr val="2A1E00"/>
          </a:solidFill>
          <a:ln w="19050">
            <a:solidFill>
              <a:srgbClr val="D4A0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1000" b="1">
                <a:solidFill>
                  <a:srgbClr val="D4A017"/>
                </a:solidFill>
              </a:rPr>
              <a:t>🎯  Orchestrator — supervises every gate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67000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76927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6856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96784" y="1783080"/>
            <a:ext cx="15240" cy="1234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506712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96784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086856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76927" y="3364992"/>
            <a:ext cx="15240" cy="1389888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E6EDF3"/>
                </a:solidFill>
              </a:rPr>
              <a:t>Gate Sequence at a Glance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877824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74519" y="896112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87782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Requirement Challenger grills the brief; exposes ambiguity before work starts.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44752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6304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44475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PRD Agent converts validated requirements into a structured product spec.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011680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29968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Design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0116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Orchestrator executes UX+Design in Gate 3A; Design QA Agent validates fidelity in Gate 3B.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578608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596896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Architecture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2578608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Architecture Agent maps modules, boundaries, risks, and task breakdown.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145536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163824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45536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Dev Agent implements and tests against acceptance criteria on a feature branch.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712464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Code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3712464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Code Reviewer (Copilot) reviews the PR; feedback loop until 0 comments.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279392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5.5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29768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Runtime QA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4279392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Runtime QA Agent validates live behaviour across viewport × theme matrix.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846320"/>
            <a:ext cx="1417320" cy="384048"/>
          </a:xfrm>
          <a:prstGeom prst="rect">
            <a:avLst/>
          </a:prstGeom>
          <a:solidFill>
            <a:srgbClr val="161B22"/>
          </a:solidFill>
          <a:ln w="19050">
            <a:solidFill>
              <a:srgbClr val="4A90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50800" rIns="50800"/>
          <a:lstStyle/>
          <a:p>
            <a:pPr algn="ctr"/>
            <a:r>
              <a:rPr sz="900" b="1">
                <a:solidFill>
                  <a:srgbClr val="93C5FD"/>
                </a:solidFill>
              </a:rPr>
              <a:t>Gate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4864608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E6EDF3"/>
                </a:solidFill>
              </a:rPr>
              <a:t>Merge 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84632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8B949E"/>
                </a:solidFill>
              </a:rPr>
              <a:t>Orchestrator confirms all evidence; Product Owner merges the PR.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