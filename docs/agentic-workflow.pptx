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>
                <a:solidFill>
                  <a:srgbClr val="E6EDF3"/>
                </a:solidFill>
              </a:rPr>
              <a:t>Agentic Workflow</a:t>
            </a:r>
          </a:p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8B949E"/>
                </a:solidFill>
              </a:rPr>
              <a:t>Orchestrated gate-based AI development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Agentic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96012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👤 Product</a:t>
            </a:r>
          </a:p>
          <a:p>
            <a:pPr algn="ctr"/>
            <a:r>
              <a:rPr sz="1000" b="0">
                <a:solidFill>
                  <a:srgbClr val="E0A8E8"/>
                </a:solidFill>
              </a:rPr>
              <a:t>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Requirement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Challenger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5887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PRD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PRD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5816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Design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UX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095744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Architecture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Arch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805672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Build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Dev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95744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Code Review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Code Reviewer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5816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Runtime QA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Runtime QA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5887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Merge Ready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Gate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75488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👤 PO</a:t>
            </a:r>
          </a:p>
          <a:p>
            <a:pPr algn="ctr"/>
            <a:r>
              <a:rPr sz="1000" b="0">
                <a:solidFill>
                  <a:srgbClr val="E0A8E8"/>
                </a:solidFill>
              </a:rPr>
              <a:t>Merges PR</a:t>
            </a:r>
          </a:p>
          <a:p>
            <a:pPr algn="ctr"/>
            <a:r>
              <a:rPr sz="900" b="0">
                <a:solidFill>
                  <a:srgbClr val="B07CC0"/>
                </a:solidFill>
              </a:rPr>
              <a:t>GitHub 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4754880"/>
            <a:ext cx="1417320" cy="822960"/>
          </a:xfrm>
          <a:prstGeom prst="rect">
            <a:avLst/>
          </a:prstGeom>
          <a:solidFill>
            <a:srgbClr val="122B1E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300" b="1">
                <a:solidFill>
                  <a:srgbClr val="D1FAE5"/>
                </a:solidFill>
              </a:rPr>
              <a:t>✅ Done</a:t>
            </a:r>
          </a:p>
          <a:p>
            <a:pPr algn="ctr"/>
            <a:r>
              <a:rPr sz="1000" b="0">
                <a:solidFill>
                  <a:srgbClr val="86EFAC"/>
                </a:solidFill>
              </a:rPr>
              <a:t>Shipped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46504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135890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35890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76288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58784" y="1358900"/>
            <a:ext cx="2048256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94340" y="1371600"/>
            <a:ext cx="25400" cy="3794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68712" y="5153660"/>
            <a:ext cx="338328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86216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6288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59" y="515366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56432" y="515366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46504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65960" y="3017520"/>
            <a:ext cx="8257032" cy="347472"/>
          </a:xfrm>
          <a:prstGeom prst="rect">
            <a:avLst/>
          </a:prstGeom>
          <a:solidFill>
            <a:srgbClr val="2A1E00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000" b="1">
                <a:solidFill>
                  <a:srgbClr val="D4A017"/>
                </a:solidFill>
              </a:rPr>
              <a:t>🎯  Orchestrator — supervises every gate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67000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6927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6856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96784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6712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96784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6856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6927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Gate Sequence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7782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8961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87782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Requirement Challenger grills the brief; exposes ambiguity before work starts.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4475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630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4475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PRD Agent converts validated requirements into a structured product spec.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1168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2996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UX Agent designs screens in Figma; Design QA Agent validates fidelity.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78608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96896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78608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Architecture Agent maps modules, boundaries, risks, and task breakdown.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145536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824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4553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Dev Agent implements and tests against acceptance criteria on a feature branch.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71246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71246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Code Reviewer (Copilot) reviews the PR; feedback loop until 0 comments.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7939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29768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Runtime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27939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Runtime QA Agent validates live behaviour across viewport × theme matrix.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4632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86460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Merge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84632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Orchestrator confirms all evidence; Product Owner merges via GitHub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