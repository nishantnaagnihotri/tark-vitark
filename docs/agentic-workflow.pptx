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>
                <a:solidFill>
                  <a:srgbClr val="E6EDF3"/>
                </a:solidFill>
              </a:rPr>
              <a:t>Agentic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8B949E"/>
                </a:solidFill>
              </a:rPr>
              <a:t>Orchestrated gate-based AI development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6EDF3"/>
                </a:solidFill>
              </a:rPr>
              <a:t>Agentic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960120"/>
            <a:ext cx="1417320" cy="822960"/>
          </a:xfrm>
          <a:prstGeom prst="rect">
            <a:avLst/>
          </a:prstGeom>
          <a:solidFill>
            <a:srgbClr val="3D1A3D"/>
          </a:solidFill>
          <a:ln w="25400">
            <a:solidFill>
              <a:srgbClr val="C9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200" b="1">
                <a:solidFill>
                  <a:srgbClr val="FAE8FD"/>
                </a:solidFill>
              </a:rPr>
              <a:t>👤 Product</a:t>
            </a:r>
          </a:p>
          <a:p>
            <a:pPr algn="ctr"/>
            <a:r>
              <a:rPr sz="1000" b="0">
                <a:solidFill>
                  <a:srgbClr val="E0A8E8"/>
                </a:solidFill>
              </a:rPr>
              <a:t>Owner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960120"/>
            <a:ext cx="14173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100" b="0">
                <a:solidFill>
                  <a:srgbClr val="93C5FD"/>
                </a:solidFill>
              </a:rPr>
              <a:t>Requirement</a:t>
            </a:r>
          </a:p>
          <a:p>
            <a:pPr algn="ctr"/>
            <a:r>
              <a:rPr sz="900" b="0">
                <a:solidFill>
                  <a:srgbClr val="5A8ABD"/>
                </a:solidFill>
              </a:rPr>
              <a:t>Challenger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5887" y="960120"/>
            <a:ext cx="14173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100" b="0">
                <a:solidFill>
                  <a:srgbClr val="93C5FD"/>
                </a:solidFill>
              </a:rPr>
              <a:t>PRD</a:t>
            </a:r>
          </a:p>
          <a:p>
            <a:pPr algn="ctr"/>
            <a:r>
              <a:rPr sz="900" b="0">
                <a:solidFill>
                  <a:srgbClr val="5A8ABD"/>
                </a:solidFill>
              </a:rPr>
              <a:t>PRD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385816" y="960120"/>
            <a:ext cx="14173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100" b="0">
                <a:solidFill>
                  <a:srgbClr val="93C5FD"/>
                </a:solidFill>
              </a:rPr>
              <a:t>UX+Design</a:t>
            </a:r>
          </a:p>
          <a:p>
            <a:pPr algn="ctr"/>
            <a:r>
              <a:rPr sz="900" b="0">
                <a:solidFill>
                  <a:srgbClr val="5A8ABD"/>
                </a:solidFill>
              </a:rPr>
              <a:t>Orchestrator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095744" y="960120"/>
            <a:ext cx="14173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100" b="0">
                <a:solidFill>
                  <a:srgbClr val="93C5FD"/>
                </a:solidFill>
              </a:rPr>
              <a:t>Architecture</a:t>
            </a:r>
          </a:p>
          <a:p>
            <a:pPr algn="ctr"/>
            <a:r>
              <a:rPr sz="900" b="0">
                <a:solidFill>
                  <a:srgbClr val="5A8ABD"/>
                </a:solidFill>
              </a:rPr>
              <a:t>Arch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05672" y="4754880"/>
            <a:ext cx="14173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100" b="0">
                <a:solidFill>
                  <a:srgbClr val="93C5FD"/>
                </a:solidFill>
              </a:rPr>
              <a:t>Build</a:t>
            </a:r>
          </a:p>
          <a:p>
            <a:pPr algn="ctr"/>
            <a:r>
              <a:rPr sz="900" b="0">
                <a:solidFill>
                  <a:srgbClr val="5A8ABD"/>
                </a:solidFill>
              </a:rPr>
              <a:t>Dev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95744" y="4754880"/>
            <a:ext cx="14173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100" b="0">
                <a:solidFill>
                  <a:srgbClr val="93C5FD"/>
                </a:solidFill>
              </a:rPr>
              <a:t>Code Review</a:t>
            </a:r>
          </a:p>
          <a:p>
            <a:pPr algn="ctr"/>
            <a:r>
              <a:rPr sz="900" b="0">
                <a:solidFill>
                  <a:srgbClr val="5A8ABD"/>
                </a:solidFill>
              </a:rPr>
              <a:t>Code Reviewer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5816" y="4754880"/>
            <a:ext cx="14173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100" b="0">
                <a:solidFill>
                  <a:srgbClr val="93C5FD"/>
                </a:solidFill>
              </a:rPr>
              <a:t>Runtime QA</a:t>
            </a:r>
          </a:p>
          <a:p>
            <a:pPr algn="ctr"/>
            <a:r>
              <a:rPr sz="900" b="0">
                <a:solidFill>
                  <a:srgbClr val="5A8ABD"/>
                </a:solidFill>
              </a:rPr>
              <a:t>Runtime QA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4754880"/>
            <a:ext cx="14173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000" b="0">
                <a:solidFill>
                  <a:srgbClr val="93C5FD"/>
                </a:solidFill>
              </a:rPr>
              <a:t>Merge Readiness</a:t>
            </a:r>
          </a:p>
          <a:p>
            <a:pPr algn="ctr"/>
            <a:r>
              <a:rPr sz="900" b="0">
                <a:solidFill>
                  <a:srgbClr val="5A8ABD"/>
                </a:solidFill>
              </a:rPr>
              <a:t>Gate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4754880"/>
            <a:ext cx="1417320" cy="822960"/>
          </a:xfrm>
          <a:prstGeom prst="rect">
            <a:avLst/>
          </a:prstGeom>
          <a:solidFill>
            <a:srgbClr val="3D1A3D"/>
          </a:solidFill>
          <a:ln w="25400">
            <a:solidFill>
              <a:srgbClr val="C9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200" b="1">
                <a:solidFill>
                  <a:srgbClr val="FAE8FD"/>
                </a:solidFill>
              </a:rPr>
              <a:t>👤 PO</a:t>
            </a:r>
          </a:p>
          <a:p>
            <a:pPr algn="ctr"/>
            <a:r>
              <a:rPr sz="1000" b="0">
                <a:solidFill>
                  <a:srgbClr val="E0A8E8"/>
                </a:solidFill>
              </a:rPr>
              <a:t>Merges PR</a:t>
            </a:r>
          </a:p>
          <a:p>
            <a:pPr algn="ctr"/>
            <a:r>
              <a:rPr sz="900" b="0">
                <a:solidFill>
                  <a:srgbClr val="B07CC0"/>
                </a:solidFill>
              </a:rPr>
              <a:t>PO-only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4754880"/>
            <a:ext cx="1417320" cy="822960"/>
          </a:xfrm>
          <a:prstGeom prst="rect">
            <a:avLst/>
          </a:prstGeom>
          <a:solidFill>
            <a:srgbClr val="122B1E"/>
          </a:solidFill>
          <a:ln w="25400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300" b="1">
                <a:solidFill>
                  <a:srgbClr val="D1FAE5"/>
                </a:solidFill>
              </a:rPr>
              <a:t>✅ Done</a:t>
            </a:r>
          </a:p>
          <a:p>
            <a:pPr algn="ctr"/>
            <a:r>
              <a:rPr sz="1000" b="0">
                <a:solidFill>
                  <a:srgbClr val="86EFAC"/>
                </a:solidFill>
              </a:rPr>
              <a:t>Shipped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46504" y="1358900"/>
            <a:ext cx="146304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6432" y="1358900"/>
            <a:ext cx="146303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1358900"/>
            <a:ext cx="146305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76288" y="1358900"/>
            <a:ext cx="146304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58784" y="1358900"/>
            <a:ext cx="2048256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94340" y="1371600"/>
            <a:ext cx="25400" cy="3794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68712" y="5153660"/>
            <a:ext cx="338328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86216" y="5153660"/>
            <a:ext cx="146304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76288" y="5153660"/>
            <a:ext cx="146304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59" y="5153660"/>
            <a:ext cx="146305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6432" y="5153660"/>
            <a:ext cx="146303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46504" y="5153660"/>
            <a:ext cx="146304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65960" y="3017520"/>
            <a:ext cx="8257032" cy="347472"/>
          </a:xfrm>
          <a:prstGeom prst="rect">
            <a:avLst/>
          </a:prstGeom>
          <a:solidFill>
            <a:srgbClr val="2A1E00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1000" b="1">
                <a:solidFill>
                  <a:srgbClr val="D4A017"/>
                </a:solidFill>
              </a:rPr>
              <a:t>🎯  Orchestrator — supervises every 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67000" y="1783080"/>
            <a:ext cx="15240" cy="1234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6927" y="1783080"/>
            <a:ext cx="15240" cy="1234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6856" y="1783080"/>
            <a:ext cx="15240" cy="1234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96784" y="1783080"/>
            <a:ext cx="15240" cy="1234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6712" y="3364992"/>
            <a:ext cx="15240" cy="13898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96784" y="3364992"/>
            <a:ext cx="15240" cy="13898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6856" y="3364992"/>
            <a:ext cx="15240" cy="13898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6927" y="3364992"/>
            <a:ext cx="15240" cy="13898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6EDF3"/>
                </a:solidFill>
              </a:rPr>
              <a:t>Gate Sequence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77824"/>
            <a:ext cx="1417320" cy="384048"/>
          </a:xfrm>
          <a:prstGeom prst="rect">
            <a:avLst/>
          </a:prstGeom>
          <a:solidFill>
            <a:srgbClr val="161B22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900" b="1">
                <a:solidFill>
                  <a:srgbClr val="93C5FD"/>
                </a:solidFill>
              </a:rPr>
              <a:t>Gate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89611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</a:rPr>
              <a:t>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87782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Requirement Challenger grills the brief; exposes ambiguity before work starts.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1417320" cy="384048"/>
          </a:xfrm>
          <a:prstGeom prst="rect">
            <a:avLst/>
          </a:prstGeom>
          <a:solidFill>
            <a:srgbClr val="161B22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900" b="1">
                <a:solidFill>
                  <a:srgbClr val="93C5FD"/>
                </a:solidFill>
              </a:rPr>
              <a:t>Gate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630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</a:rPr>
              <a:t>PRD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4447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PRD Agent converts validated requirements into a structured product spec.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1417320" cy="384048"/>
          </a:xfrm>
          <a:prstGeom prst="rect">
            <a:avLst/>
          </a:prstGeom>
          <a:solidFill>
            <a:srgbClr val="161B22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900" b="1">
                <a:solidFill>
                  <a:srgbClr val="93C5FD"/>
                </a:solidFill>
              </a:rPr>
              <a:t>Gate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299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Orchestrator executes UX+Design in Gate 3A; Design QA Agent validates fidelity in Gate 3B.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78608"/>
            <a:ext cx="1417320" cy="384048"/>
          </a:xfrm>
          <a:prstGeom prst="rect">
            <a:avLst/>
          </a:prstGeom>
          <a:solidFill>
            <a:srgbClr val="161B22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900" b="1">
                <a:solidFill>
                  <a:srgbClr val="93C5FD"/>
                </a:solidFill>
              </a:rPr>
              <a:t>Gate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59689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78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Architecture Agent maps modules, boundaries, risks, and task breakdown.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45536"/>
            <a:ext cx="1417320" cy="384048"/>
          </a:xfrm>
          <a:prstGeom prst="rect">
            <a:avLst/>
          </a:prstGeom>
          <a:solidFill>
            <a:srgbClr val="161B22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900" b="1">
                <a:solidFill>
                  <a:srgbClr val="93C5FD"/>
                </a:solidFill>
              </a:rPr>
              <a:t>Gate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16382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4553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Dev Agent implements and tests against acceptance criteria on a feature branch.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12464"/>
            <a:ext cx="1417320" cy="384048"/>
          </a:xfrm>
          <a:prstGeom prst="rect">
            <a:avLst/>
          </a:prstGeom>
          <a:solidFill>
            <a:srgbClr val="161B22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900" b="1">
                <a:solidFill>
                  <a:srgbClr val="93C5FD"/>
                </a:solidFill>
              </a:rPr>
              <a:t>Code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71246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Code Reviewer (Copilot) reviews the PR; feedback loop until the latest Copilot review body says 'generated 0 comments' (or equivalent).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79392"/>
            <a:ext cx="1417320" cy="384048"/>
          </a:xfrm>
          <a:prstGeom prst="rect">
            <a:avLst/>
          </a:prstGeom>
          <a:solidFill>
            <a:srgbClr val="161B22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900" b="1">
                <a:solidFill>
                  <a:srgbClr val="93C5FD"/>
                </a:solidFill>
              </a:rPr>
              <a:t>Gate 5.5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297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</a:rPr>
              <a:t>Runtime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27939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Runtime QA Agent validates live behaviour across viewport × theme matrix.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846320"/>
            <a:ext cx="1417320" cy="384048"/>
          </a:xfrm>
          <a:prstGeom prst="rect">
            <a:avLst/>
          </a:prstGeom>
          <a:solidFill>
            <a:srgbClr val="161B22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50800" rIns="50800"/>
          <a:lstStyle/>
          <a:p>
            <a:pPr algn="ctr"/>
            <a:r>
              <a:rPr sz="900" b="1">
                <a:solidFill>
                  <a:srgbClr val="93C5FD"/>
                </a:solidFill>
              </a:rPr>
              <a:t>Gate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86460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</a:rPr>
              <a:t>Merge Readiness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84632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Orchestrator confirms all evidence; Product Owner merges the PR.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